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Outfit ExtraBold"/>
      <p:bold r:id="rId15"/>
    </p:embeddedFont>
    <p:embeddedFont>
      <p:font typeface="Arimo"/>
      <p:regular r:id="rId16"/>
      <p:bold r:id="rId17"/>
      <p:italic r:id="rId18"/>
      <p:boldItalic r:id="rId19"/>
    </p:embeddedFont>
    <p:embeddedFont>
      <p:font typeface="Outfit Light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Light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OutfitLigh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utfitExtraBold-bold.fntdata"/><Relationship Id="rId14" Type="http://schemas.openxmlformats.org/officeDocument/2006/relationships/slide" Target="slides/slide10.xml"/><Relationship Id="rId17" Type="http://schemas.openxmlformats.org/officeDocument/2006/relationships/font" Target="fonts/Arimo-bold.fntdata"/><Relationship Id="rId16" Type="http://schemas.openxmlformats.org/officeDocument/2006/relationships/font" Target="fonts/Arimo-regular.fntdata"/><Relationship Id="rId5" Type="http://schemas.openxmlformats.org/officeDocument/2006/relationships/slide" Target="slides/slide1.xml"/><Relationship Id="rId19" Type="http://schemas.openxmlformats.org/officeDocument/2006/relationships/font" Target="fonts/Arimo-boldItalic.fntdata"/><Relationship Id="rId6" Type="http://schemas.openxmlformats.org/officeDocument/2006/relationships/slide" Target="slides/slide2.xml"/><Relationship Id="rId18" Type="http://schemas.openxmlformats.org/officeDocument/2006/relationships/font" Target="fonts/Arim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750"/>
              <a:buFont typeface="Outfit ExtraBold"/>
              <a:buNone/>
            </a:pPr>
            <a:r>
              <a:rPr b="0" i="0" lang="en-US" sz="27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Customer Shopping Behavior Analysis</a:t>
            </a:r>
            <a:endParaRPr b="0" i="0" sz="27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Uncovering insights from </a:t>
            </a:r>
            <a:r>
              <a:rPr b="1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3,900 transactions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across product categories — spending patterns, customer segments, and subscription behavior.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496119" y="624483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750"/>
              <a:buFont typeface="Outfit ExtraBold"/>
              <a:buNone/>
            </a:pPr>
            <a:r>
              <a:rPr b="0" i="0" lang="en-US" sz="27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Dataset at a Glance</a:t>
            </a:r>
            <a:endParaRPr b="0" i="0" sz="2750" u="none" cap="none" strike="noStrike"/>
          </a:p>
        </p:txBody>
      </p:sp>
      <p:sp>
        <p:nvSpPr>
          <p:cNvPr id="65" name="Google Shape;65;p14"/>
          <p:cNvSpPr/>
          <p:nvPr/>
        </p:nvSpPr>
        <p:spPr>
          <a:xfrm>
            <a:off x="496119" y="1421829"/>
            <a:ext cx="3987254" cy="467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3650"/>
              <a:buFont typeface="Outfit ExtraBold"/>
              <a:buNone/>
            </a:pPr>
            <a:r>
              <a:rPr b="0" i="0" lang="en-US" sz="36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3,900</a:t>
            </a:r>
            <a:endParaRPr b="0" i="0" sz="3650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1603697" y="206677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Transactions</a:t>
            </a:r>
            <a:endParaRPr b="0" i="0" sz="135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496119" y="2373288"/>
            <a:ext cx="398725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Rows in the dataset</a:t>
            </a:r>
            <a:endParaRPr b="0" i="0" sz="110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4660553" y="1421829"/>
            <a:ext cx="3987329" cy="467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3650"/>
              <a:buFont typeface="Outfit ExtraBold"/>
              <a:buNone/>
            </a:pPr>
            <a:r>
              <a:rPr b="0" i="0" lang="en-US" sz="36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18</a:t>
            </a:r>
            <a:endParaRPr b="0" i="0" sz="365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5768206" y="206677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Features</a:t>
            </a:r>
            <a:endParaRPr b="0" i="0" sz="135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4660553" y="2373288"/>
            <a:ext cx="3987329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Columns of data</a:t>
            </a:r>
            <a:endParaRPr b="0" i="0" sz="110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496119" y="2954462"/>
            <a:ext cx="3987254" cy="467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3650"/>
              <a:buFont typeface="Outfit ExtraBold"/>
              <a:buNone/>
            </a:pPr>
            <a:r>
              <a:rPr b="0" i="0" lang="en-US" sz="36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$59.76</a:t>
            </a:r>
            <a:endParaRPr b="0" i="0" sz="365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1603697" y="359940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Avg Purchase</a:t>
            </a:r>
            <a:endParaRPr b="0" i="0" sz="135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496119" y="3905920"/>
            <a:ext cx="398725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Average spend per order</a:t>
            </a:r>
            <a:endParaRPr b="0" i="0" sz="110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4660553" y="2954462"/>
            <a:ext cx="3987329" cy="467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3650"/>
              <a:buFont typeface="Outfit ExtraBold"/>
              <a:buNone/>
            </a:pPr>
            <a:r>
              <a:rPr b="0" i="0" lang="en-US" sz="36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37</a:t>
            </a:r>
            <a:endParaRPr b="0" i="0" sz="365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5768206" y="359940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Missing Values</a:t>
            </a:r>
            <a:endParaRPr b="0" i="0" sz="135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4660553" y="3905920"/>
            <a:ext cx="3987329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 Review Rating column</a:t>
            </a:r>
            <a:endParaRPr b="0" i="0" sz="110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496119" y="4292203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Customers aged </a:t>
            </a:r>
            <a:r>
              <a:rPr b="1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18–70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with data spanning demographics, purchase details, and shopping behavior.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496119" y="1681907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750"/>
              <a:buFont typeface="Outfit ExtraBold"/>
              <a:buNone/>
            </a:pPr>
            <a:r>
              <a:rPr b="0" i="0" lang="en-US" sz="27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Key Data Features</a:t>
            </a:r>
            <a:endParaRPr b="0" i="0" sz="275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496119" y="2408411"/>
            <a:ext cx="2622724" cy="1053182"/>
          </a:xfrm>
          <a:prstGeom prst="roundRect">
            <a:avLst>
              <a:gd fmla="val 5654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642640" y="2554932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Demographics</a:t>
            </a:r>
            <a:endParaRPr b="0" i="0" sz="1350" u="none" cap="none" strike="noStrike"/>
          </a:p>
        </p:txBody>
      </p:sp>
      <p:sp>
        <p:nvSpPr>
          <p:cNvPr id="86" name="Google Shape;86;p15"/>
          <p:cNvSpPr/>
          <p:nvPr/>
        </p:nvSpPr>
        <p:spPr>
          <a:xfrm>
            <a:off x="642640" y="2861444"/>
            <a:ext cx="232968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Age, Gender, Location, Subscription Status</a:t>
            </a:r>
            <a:endParaRPr b="0" i="0" sz="1100" u="none" cap="none" strike="noStrike"/>
          </a:p>
        </p:txBody>
      </p:sp>
      <p:sp>
        <p:nvSpPr>
          <p:cNvPr id="87" name="Google Shape;87;p15"/>
          <p:cNvSpPr/>
          <p:nvPr/>
        </p:nvSpPr>
        <p:spPr>
          <a:xfrm>
            <a:off x="3260601" y="2408411"/>
            <a:ext cx="2622724" cy="1053182"/>
          </a:xfrm>
          <a:prstGeom prst="roundRect">
            <a:avLst>
              <a:gd fmla="val 5654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3407122" y="2554932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Purchase Details</a:t>
            </a:r>
            <a:endParaRPr b="0" i="0" sz="135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3407122" y="2861444"/>
            <a:ext cx="232968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Item, Category, Amount, Season, Size, Color</a:t>
            </a:r>
            <a:endParaRPr b="0" i="0" sz="110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6025083" y="2408411"/>
            <a:ext cx="2622724" cy="1053182"/>
          </a:xfrm>
          <a:prstGeom prst="roundRect">
            <a:avLst>
              <a:gd fmla="val 5654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6171605" y="2554932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Shopping Behavior</a:t>
            </a:r>
            <a:endParaRPr b="0" i="0" sz="135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6171605" y="2861444"/>
            <a:ext cx="232968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Discount, Promo Code, Frequency, Review Rating, Shipping Type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8" name="Google Shape;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/>
          <p:nvPr/>
        </p:nvSpPr>
        <p:spPr>
          <a:xfrm>
            <a:off x="418654" y="382488"/>
            <a:ext cx="4877693" cy="747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350"/>
              <a:buFont typeface="Outfit ExtraBold"/>
              <a:buNone/>
            </a:pPr>
            <a:r>
              <a:rPr b="0" i="0" lang="en-US" sz="23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Python: Data Preparation &amp; Cleaning</a:t>
            </a:r>
            <a:endParaRPr b="0" i="0" sz="2350" u="none" cap="none" strike="noStrike"/>
          </a:p>
        </p:txBody>
      </p:sp>
      <p:sp>
        <p:nvSpPr>
          <p:cNvPr id="100" name="Google Shape;100;p16"/>
          <p:cNvSpPr/>
          <p:nvPr/>
        </p:nvSpPr>
        <p:spPr>
          <a:xfrm>
            <a:off x="418654" y="1281410"/>
            <a:ext cx="239167" cy="149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900"/>
              <a:buFont typeface="Outfit Light"/>
              <a:buNone/>
            </a:pPr>
            <a:r>
              <a:rPr b="0" i="0" lang="en-US" sz="900" u="none" cap="none" strike="noStrike">
                <a:solidFill>
                  <a:srgbClr val="2A2742"/>
                </a:solidFill>
                <a:latin typeface="Outfit Light"/>
                <a:ea typeface="Outfit Light"/>
                <a:cs typeface="Outfit Light"/>
                <a:sym typeface="Outfit Light"/>
              </a:rPr>
              <a:t>01</a:t>
            </a:r>
            <a:endParaRPr b="0" i="0" sz="900" u="none" cap="none" strike="noStrike"/>
          </a:p>
        </p:txBody>
      </p:sp>
      <p:sp>
        <p:nvSpPr>
          <p:cNvPr id="101" name="Google Shape;101;p16"/>
          <p:cNvSpPr/>
          <p:nvPr/>
        </p:nvSpPr>
        <p:spPr>
          <a:xfrm>
            <a:off x="418654" y="1470347"/>
            <a:ext cx="4877693" cy="14288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418654" y="1558677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Outfit ExtraBold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Load &amp; Explore</a:t>
            </a:r>
            <a:endParaRPr b="0" i="0" sz="1150" u="none" cap="none" strike="noStrike"/>
          </a:p>
        </p:txBody>
      </p:sp>
      <p:sp>
        <p:nvSpPr>
          <p:cNvPr id="103" name="Google Shape;103;p16"/>
          <p:cNvSpPr/>
          <p:nvPr/>
        </p:nvSpPr>
        <p:spPr>
          <a:xfrm>
            <a:off x="418654" y="1806029"/>
            <a:ext cx="4877693" cy="181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900"/>
              <a:buFont typeface="Arimo"/>
              <a:buNone/>
            </a:pPr>
            <a:r>
              <a:rPr b="0" i="0" lang="en-US" sz="9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Imported via pandas; used </a:t>
            </a:r>
            <a:r>
              <a:rPr b="0" i="0" lang="en-US" sz="900" u="none" cap="none" strike="noStrike">
                <a:solidFill>
                  <a:srgbClr val="2A2742"/>
                </a:solidFill>
                <a:highlight>
                  <a:srgbClr val="EDEDED"/>
                </a:highlight>
                <a:latin typeface="Consolas"/>
                <a:ea typeface="Consolas"/>
                <a:cs typeface="Consolas"/>
                <a:sym typeface="Consolas"/>
              </a:rPr>
              <a:t>df.info()</a:t>
            </a:r>
            <a:r>
              <a:rPr b="0" i="0" lang="en-US" sz="9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b="0" i="0" lang="en-US" sz="900" u="none" cap="none" strike="noStrike">
                <a:solidFill>
                  <a:srgbClr val="2A2742"/>
                </a:solidFill>
                <a:highlight>
                  <a:srgbClr val="EDEDED"/>
                </a:highlight>
                <a:latin typeface="Consolas"/>
                <a:ea typeface="Consolas"/>
                <a:cs typeface="Consolas"/>
                <a:sym typeface="Consolas"/>
              </a:rPr>
              <a:t>.describe()</a:t>
            </a:r>
            <a:r>
              <a:rPr b="0" i="0" lang="en-US" sz="9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for structure and summary stats.</a:t>
            </a:r>
            <a:endParaRPr b="0" i="0" sz="900" u="none" cap="none" strike="noStrike"/>
          </a:p>
        </p:txBody>
      </p:sp>
      <p:sp>
        <p:nvSpPr>
          <p:cNvPr id="104" name="Google Shape;104;p16"/>
          <p:cNvSpPr/>
          <p:nvPr/>
        </p:nvSpPr>
        <p:spPr>
          <a:xfrm>
            <a:off x="418654" y="2177728"/>
            <a:ext cx="239167" cy="149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900"/>
              <a:buFont typeface="Outfit Light"/>
              <a:buNone/>
            </a:pPr>
            <a:r>
              <a:rPr b="0" i="0" lang="en-US" sz="900" u="none" cap="none" strike="noStrike">
                <a:solidFill>
                  <a:srgbClr val="2A2742"/>
                </a:solidFill>
                <a:latin typeface="Outfit Light"/>
                <a:ea typeface="Outfit Light"/>
                <a:cs typeface="Outfit Light"/>
                <a:sym typeface="Outfit Light"/>
              </a:rPr>
              <a:t>02</a:t>
            </a:r>
            <a:endParaRPr b="0" i="0" sz="900" u="none" cap="none" strike="noStrike"/>
          </a:p>
        </p:txBody>
      </p:sp>
      <p:sp>
        <p:nvSpPr>
          <p:cNvPr id="105" name="Google Shape;105;p16"/>
          <p:cNvSpPr/>
          <p:nvPr/>
        </p:nvSpPr>
        <p:spPr>
          <a:xfrm>
            <a:off x="418654" y="2366665"/>
            <a:ext cx="4877693" cy="14288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418654" y="2454994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Outfit ExtraBold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Handle Missing Data</a:t>
            </a:r>
            <a:endParaRPr b="0" i="0" sz="1150" u="none" cap="none" strike="noStrike"/>
          </a:p>
        </p:txBody>
      </p:sp>
      <p:sp>
        <p:nvSpPr>
          <p:cNvPr id="107" name="Google Shape;107;p16"/>
          <p:cNvSpPr/>
          <p:nvPr/>
        </p:nvSpPr>
        <p:spPr>
          <a:xfrm>
            <a:off x="418654" y="2702347"/>
            <a:ext cx="4877693" cy="176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900"/>
              <a:buFont typeface="Arimo"/>
              <a:buNone/>
            </a:pPr>
            <a:r>
              <a:rPr b="0" i="0" lang="en-US" sz="9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Imputed missing Review Ratings using the </a:t>
            </a:r>
            <a:r>
              <a:rPr b="1" i="0" lang="en-US" sz="9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median rating per product category</a:t>
            </a:r>
            <a:r>
              <a:rPr b="0" i="0" lang="en-US" sz="9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b="0" i="0" sz="900" u="none" cap="none" strike="noStrike"/>
          </a:p>
        </p:txBody>
      </p:sp>
      <p:sp>
        <p:nvSpPr>
          <p:cNvPr id="108" name="Google Shape;108;p16"/>
          <p:cNvSpPr/>
          <p:nvPr/>
        </p:nvSpPr>
        <p:spPr>
          <a:xfrm>
            <a:off x="418654" y="3069282"/>
            <a:ext cx="239167" cy="149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900"/>
              <a:buFont typeface="Outfit Light"/>
              <a:buNone/>
            </a:pPr>
            <a:r>
              <a:rPr b="0" i="0" lang="en-US" sz="900" u="none" cap="none" strike="noStrike">
                <a:solidFill>
                  <a:srgbClr val="2A2742"/>
                </a:solidFill>
                <a:latin typeface="Outfit Light"/>
                <a:ea typeface="Outfit Light"/>
                <a:cs typeface="Outfit Light"/>
                <a:sym typeface="Outfit Light"/>
              </a:rPr>
              <a:t>03</a:t>
            </a:r>
            <a:endParaRPr b="0" i="0" sz="900" u="none" cap="none" strike="noStrike"/>
          </a:p>
        </p:txBody>
      </p:sp>
      <p:sp>
        <p:nvSpPr>
          <p:cNvPr id="109" name="Google Shape;109;p16"/>
          <p:cNvSpPr/>
          <p:nvPr/>
        </p:nvSpPr>
        <p:spPr>
          <a:xfrm>
            <a:off x="418654" y="3258220"/>
            <a:ext cx="4877693" cy="14288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418654" y="3346549"/>
            <a:ext cx="1640384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Outfit ExtraBold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Standardize &amp; Engineer</a:t>
            </a:r>
            <a:endParaRPr b="0" i="0" sz="1150" u="none" cap="none" strike="noStrike"/>
          </a:p>
        </p:txBody>
      </p:sp>
      <p:sp>
        <p:nvSpPr>
          <p:cNvPr id="111" name="Google Shape;111;p16"/>
          <p:cNvSpPr/>
          <p:nvPr/>
        </p:nvSpPr>
        <p:spPr>
          <a:xfrm>
            <a:off x="418654" y="3593902"/>
            <a:ext cx="4877693" cy="181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900"/>
              <a:buFont typeface="Arimo"/>
              <a:buNone/>
            </a:pPr>
            <a:r>
              <a:rPr b="0" i="0" lang="en-US" sz="9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Renamed columns to snake_case; created </a:t>
            </a:r>
            <a:r>
              <a:rPr b="0" i="0" lang="en-US" sz="900" u="none" cap="none" strike="noStrike">
                <a:solidFill>
                  <a:srgbClr val="2A2742"/>
                </a:solidFill>
                <a:highlight>
                  <a:srgbClr val="EDEDED"/>
                </a:highlight>
                <a:latin typeface="Consolas"/>
                <a:ea typeface="Consolas"/>
                <a:cs typeface="Consolas"/>
                <a:sym typeface="Consolas"/>
              </a:rPr>
              <a:t>age_group</a:t>
            </a:r>
            <a:r>
              <a:rPr b="0" i="0" lang="en-US" sz="9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bins and </a:t>
            </a:r>
            <a:r>
              <a:rPr b="0" i="0" lang="en-US" sz="900" u="none" cap="none" strike="noStrike">
                <a:solidFill>
                  <a:srgbClr val="2A2742"/>
                </a:solidFill>
                <a:highlight>
                  <a:srgbClr val="EDEDED"/>
                </a:highlight>
                <a:latin typeface="Consolas"/>
                <a:ea typeface="Consolas"/>
                <a:cs typeface="Consolas"/>
                <a:sym typeface="Consolas"/>
              </a:rPr>
              <a:t>purchase_frequency_days</a:t>
            </a:r>
            <a:r>
              <a:rPr b="0" i="0" lang="en-US" sz="9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b="0" i="0" sz="900" u="none" cap="none" strike="noStrike"/>
          </a:p>
        </p:txBody>
      </p:sp>
      <p:sp>
        <p:nvSpPr>
          <p:cNvPr id="112" name="Google Shape;112;p16"/>
          <p:cNvSpPr/>
          <p:nvPr/>
        </p:nvSpPr>
        <p:spPr>
          <a:xfrm>
            <a:off x="418654" y="3965600"/>
            <a:ext cx="239167" cy="149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900"/>
              <a:buFont typeface="Outfit Light"/>
              <a:buNone/>
            </a:pPr>
            <a:r>
              <a:rPr b="0" i="0" lang="en-US" sz="900" u="none" cap="none" strike="noStrike">
                <a:solidFill>
                  <a:srgbClr val="2A2742"/>
                </a:solidFill>
                <a:latin typeface="Outfit Light"/>
                <a:ea typeface="Outfit Light"/>
                <a:cs typeface="Outfit Light"/>
                <a:sym typeface="Outfit Light"/>
              </a:rPr>
              <a:t>04</a:t>
            </a:r>
            <a:endParaRPr b="0" i="0" sz="900" u="none" cap="none" strike="noStrike"/>
          </a:p>
        </p:txBody>
      </p:sp>
      <p:sp>
        <p:nvSpPr>
          <p:cNvPr id="113" name="Google Shape;113;p16"/>
          <p:cNvSpPr/>
          <p:nvPr/>
        </p:nvSpPr>
        <p:spPr>
          <a:xfrm>
            <a:off x="418654" y="4154537"/>
            <a:ext cx="4877693" cy="14288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418654" y="4242867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Outfit ExtraBold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Load to PostgreSQL</a:t>
            </a:r>
            <a:endParaRPr b="0" i="0" sz="1150" u="none" cap="none" strike="noStrike"/>
          </a:p>
        </p:txBody>
      </p:sp>
      <p:sp>
        <p:nvSpPr>
          <p:cNvPr id="115" name="Google Shape;115;p16"/>
          <p:cNvSpPr/>
          <p:nvPr/>
        </p:nvSpPr>
        <p:spPr>
          <a:xfrm>
            <a:off x="418654" y="4490219"/>
            <a:ext cx="4877693" cy="181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900"/>
              <a:buFont typeface="Arimo"/>
              <a:buNone/>
            </a:pPr>
            <a:r>
              <a:rPr b="0" i="0" lang="en-US" sz="9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Dropped redundant </a:t>
            </a:r>
            <a:r>
              <a:rPr b="0" i="0" lang="en-US" sz="900" u="none" cap="none" strike="noStrike">
                <a:solidFill>
                  <a:srgbClr val="2A2742"/>
                </a:solidFill>
                <a:highlight>
                  <a:srgbClr val="EDEDED"/>
                </a:highlight>
                <a:latin typeface="Consolas"/>
                <a:ea typeface="Consolas"/>
                <a:cs typeface="Consolas"/>
                <a:sym typeface="Consolas"/>
              </a:rPr>
              <a:t>promo_code_used</a:t>
            </a:r>
            <a:r>
              <a:rPr b="0" i="0" lang="en-US" sz="9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; connected to PostgreSQL for SQL analysis.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496119" y="679772"/>
            <a:ext cx="632154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750"/>
              <a:buFont typeface="Outfit ExtraBold"/>
              <a:buNone/>
            </a:pPr>
            <a:r>
              <a:rPr b="0" i="0" lang="en-US" sz="27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Revenue by Gender &amp; Shipping Type</a:t>
            </a:r>
            <a:endParaRPr b="0" i="0" sz="2750" u="none" cap="none" strike="noStrike"/>
          </a:p>
        </p:txBody>
      </p:sp>
      <p:pic>
        <p:nvPicPr>
          <p:cNvPr descr="preencoded.pn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94830"/>
            <a:ext cx="3902943" cy="280935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Key Findings</a:t>
            </a:r>
            <a:endParaRPr b="0" i="0" sz="135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4749701" y="1840334"/>
            <a:ext cx="3902943" cy="1261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1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Male customers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generated </a:t>
            </a:r>
            <a:r>
              <a:rPr b="1" i="0" lang="en-US" sz="1100" u="none" cap="none" strike="noStrike">
                <a:solidFill>
                  <a:srgbClr val="5E4CE6"/>
                </a:solidFill>
                <a:latin typeface="Arimo"/>
                <a:ea typeface="Arimo"/>
                <a:cs typeface="Arimo"/>
                <a:sym typeface="Arimo"/>
              </a:rPr>
              <a:t>$157,890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— more than double female revenue at $75,191.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Shipping type analysis compared average purchase amounts between </a:t>
            </a:r>
            <a:r>
              <a:rPr b="1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Standard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b="1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Express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options to understand spend behavior by delivery preference.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496119" y="648370"/>
            <a:ext cx="852383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750"/>
              <a:buFont typeface="Outfit ExtraBold"/>
              <a:buNone/>
            </a:pPr>
            <a:r>
              <a:rPr b="0" i="0" lang="en-US" sz="27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Subscribers vs. Non-Subscribers &amp; Repeat Buyers</a:t>
            </a:r>
            <a:endParaRPr b="0" i="0" sz="2750" u="none" cap="none" strike="noStrike"/>
          </a:p>
        </p:txBody>
      </p:sp>
      <p:sp>
        <p:nvSpPr>
          <p:cNvPr id="131" name="Google Shape;131;p18"/>
          <p:cNvSpPr/>
          <p:nvPr/>
        </p:nvSpPr>
        <p:spPr>
          <a:xfrm>
            <a:off x="496119" y="1445716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Subscription Insights</a:t>
            </a:r>
            <a:endParaRPr b="0" i="0" sz="1350" u="none" cap="none" strike="noStrike"/>
          </a:p>
        </p:txBody>
      </p:sp>
      <p:sp>
        <p:nvSpPr>
          <p:cNvPr id="132" name="Google Shape;132;p18"/>
          <p:cNvSpPr/>
          <p:nvPr/>
        </p:nvSpPr>
        <p:spPr>
          <a:xfrm>
            <a:off x="496119" y="1808931"/>
            <a:ext cx="2628230" cy="136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Compared </a:t>
            </a:r>
            <a:r>
              <a:rPr b="1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average spend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b="1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total revenue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across subscription status. Customers with </a:t>
            </a:r>
            <a:r>
              <a:rPr b="1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more than 5 purchases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were analyzed to determine whether repeat buyers are more likely to subscribe.</a:t>
            </a:r>
            <a:endParaRPr b="0" i="0" sz="1100" u="none" cap="none" strike="noStrike"/>
          </a:p>
        </p:txBody>
      </p:sp>
      <p:sp>
        <p:nvSpPr>
          <p:cNvPr id="133" name="Google Shape;133;p18"/>
          <p:cNvSpPr/>
          <p:nvPr/>
        </p:nvSpPr>
        <p:spPr>
          <a:xfrm>
            <a:off x="496119" y="3329285"/>
            <a:ext cx="2628230" cy="1006376"/>
          </a:xfrm>
          <a:prstGeom prst="roundRect">
            <a:avLst>
              <a:gd fmla="val 5917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3544342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956816" y="3492252"/>
            <a:ext cx="202577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Repeat purchase frequency is a strong signal for subscription conversion potential.</a:t>
            </a:r>
            <a:endParaRPr b="0" i="0" sz="1100" u="none" cap="none" strike="noStrike"/>
          </a:p>
        </p:txBody>
      </p:sp>
      <p:pic>
        <p:nvPicPr>
          <p:cNvPr descr="preencoded.png" id="136" name="Google Shape;1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988" y="2409081"/>
            <a:ext cx="5177582" cy="980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/>
          <p:nvPr/>
        </p:nvSpPr>
        <p:spPr>
          <a:xfrm>
            <a:off x="496119" y="1108174"/>
            <a:ext cx="8082707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750"/>
              <a:buFont typeface="Outfit ExtraBold"/>
              <a:buNone/>
            </a:pPr>
            <a:r>
              <a:rPr b="0" i="0" lang="en-US" sz="27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Customer Segmentation &amp; Age Group Revenue</a:t>
            </a:r>
            <a:endParaRPr b="0" i="0" sz="2750" u="none" cap="none" strike="noStrike"/>
          </a:p>
        </p:txBody>
      </p:sp>
      <p:pic>
        <p:nvPicPr>
          <p:cNvPr descr="preencoded.png"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7506" y="2208461"/>
            <a:ext cx="3694807" cy="138216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/>
          <p:nvPr/>
        </p:nvSpPr>
        <p:spPr>
          <a:xfrm>
            <a:off x="6024339" y="1905521"/>
            <a:ext cx="26416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Three Customer Segments</a:t>
            </a:r>
            <a:endParaRPr b="0" i="0" sz="1350" u="none" cap="none" strike="noStrike"/>
          </a:p>
        </p:txBody>
      </p:sp>
      <p:sp>
        <p:nvSpPr>
          <p:cNvPr id="145" name="Google Shape;145;p19"/>
          <p:cNvSpPr/>
          <p:nvPr/>
        </p:nvSpPr>
        <p:spPr>
          <a:xfrm>
            <a:off x="6024339" y="2268736"/>
            <a:ext cx="262823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Customers classified as </a:t>
            </a:r>
            <a:r>
              <a:rPr b="1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b="1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Returning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, or </a:t>
            </a:r>
            <a:r>
              <a:rPr b="1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Loyal</a:t>
            </a: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based on purchase history.</a:t>
            </a:r>
            <a:endParaRPr b="0" i="0" sz="1100" u="none" cap="none" strike="noStrike"/>
          </a:p>
        </p:txBody>
      </p:sp>
      <p:sp>
        <p:nvSpPr>
          <p:cNvPr id="146" name="Google Shape;146;p19"/>
          <p:cNvSpPr/>
          <p:nvPr/>
        </p:nvSpPr>
        <p:spPr>
          <a:xfrm>
            <a:off x="6024339" y="2864123"/>
            <a:ext cx="230512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Revenue by Age Group</a:t>
            </a:r>
            <a:endParaRPr b="0" i="0" sz="1350" u="none" cap="none" strike="noStrike"/>
          </a:p>
        </p:txBody>
      </p:sp>
      <p:sp>
        <p:nvSpPr>
          <p:cNvPr id="147" name="Google Shape;147;p19"/>
          <p:cNvSpPr/>
          <p:nvPr/>
        </p:nvSpPr>
        <p:spPr>
          <a:xfrm>
            <a:off x="6024339" y="3227338"/>
            <a:ext cx="2628230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Total revenue contribution calculated per age group to identify highest-value demographics for targeted marketing.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488379" y="389111"/>
            <a:ext cx="7259910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700"/>
              <a:buFont typeface="Outfit ExtraBold"/>
              <a:buNone/>
            </a:pPr>
            <a:r>
              <a:rPr b="0" i="0" lang="en-US" sz="27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Top Products: Ratings &amp; Category Leaders</a:t>
            </a:r>
            <a:endParaRPr b="0" i="0" sz="2700" u="none" cap="none" strike="noStrike"/>
          </a:p>
        </p:txBody>
      </p:sp>
      <p:sp>
        <p:nvSpPr>
          <p:cNvPr id="154" name="Google Shape;154;p20"/>
          <p:cNvSpPr/>
          <p:nvPr/>
        </p:nvSpPr>
        <p:spPr>
          <a:xfrm>
            <a:off x="488379" y="1811164"/>
            <a:ext cx="2448669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Top 5 Products by Rating</a:t>
            </a:r>
            <a:endParaRPr b="0" i="0" sz="1350" u="none" cap="none" strike="noStrike"/>
          </a:p>
        </p:txBody>
      </p:sp>
      <p:sp>
        <p:nvSpPr>
          <p:cNvPr id="155" name="Google Shape;155;p20"/>
          <p:cNvSpPr/>
          <p:nvPr/>
        </p:nvSpPr>
        <p:spPr>
          <a:xfrm>
            <a:off x="488379" y="2166565"/>
            <a:ext cx="2637234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Products with the highest average review ratings were identified to guide product positioning in campaigns.</a:t>
            </a:r>
            <a:endParaRPr b="0" i="0" sz="1050" u="none" cap="none" strike="noStrike"/>
          </a:p>
        </p:txBody>
      </p:sp>
      <p:sp>
        <p:nvSpPr>
          <p:cNvPr id="156" name="Google Shape;156;p20"/>
          <p:cNvSpPr/>
          <p:nvPr/>
        </p:nvSpPr>
        <p:spPr>
          <a:xfrm>
            <a:off x="488379" y="2968303"/>
            <a:ext cx="2756967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Top 3 Products per Category</a:t>
            </a:r>
            <a:endParaRPr b="0" i="0" sz="1350" u="none" cap="none" strike="noStrike"/>
          </a:p>
        </p:txBody>
      </p:sp>
      <p:sp>
        <p:nvSpPr>
          <p:cNvPr id="157" name="Google Shape;157;p20"/>
          <p:cNvSpPr/>
          <p:nvPr/>
        </p:nvSpPr>
        <p:spPr>
          <a:xfrm>
            <a:off x="488379" y="3323704"/>
            <a:ext cx="2637234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Most purchased products listed within each category to highlight best-sellers for marketing focus.</a:t>
            </a:r>
            <a:endParaRPr b="0" i="0" sz="1050" u="none" cap="none" strike="noStrike"/>
          </a:p>
        </p:txBody>
      </p:sp>
      <p:pic>
        <p:nvPicPr>
          <p:cNvPr descr="preencoded.pn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0746" y="1185714"/>
            <a:ext cx="5189562" cy="3414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4" name="Google Shape;1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029" y="291033"/>
            <a:ext cx="6877869" cy="376810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/>
          <p:nvPr/>
        </p:nvSpPr>
        <p:spPr>
          <a:xfrm>
            <a:off x="1133029" y="4164211"/>
            <a:ext cx="2949178" cy="311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950"/>
              <a:buFont typeface="Outfit ExtraBold"/>
              <a:buNone/>
            </a:pPr>
            <a:r>
              <a:rPr b="0" i="0" lang="en-US" sz="19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Power BI Dashboard</a:t>
            </a:r>
            <a:endParaRPr b="0" i="0" sz="1950" u="none" cap="none" strike="noStrike"/>
          </a:p>
        </p:txBody>
      </p:sp>
      <p:sp>
        <p:nvSpPr>
          <p:cNvPr id="166" name="Google Shape;166;p21"/>
          <p:cNvSpPr/>
          <p:nvPr/>
        </p:nvSpPr>
        <p:spPr>
          <a:xfrm>
            <a:off x="1133029" y="4580781"/>
            <a:ext cx="6877869" cy="271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750"/>
              <a:buFont typeface="Arimo"/>
              <a:buNone/>
            </a:pPr>
            <a:r>
              <a:rPr b="0" i="0" lang="en-US" sz="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An </a:t>
            </a:r>
            <a:r>
              <a:rPr b="1" i="0" lang="en-US" sz="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interactive Power BI dashboard</a:t>
            </a:r>
            <a:r>
              <a:rPr b="0" i="0" lang="en-US" sz="7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was built to present all insights visually — enabling stakeholders to explore revenue, segments, product performance, and subscription trends at a glance.</a:t>
            </a:r>
            <a:endParaRPr b="0" i="0" sz="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/>
          <p:nvPr/>
        </p:nvSpPr>
        <p:spPr>
          <a:xfrm>
            <a:off x="496119" y="1055861"/>
            <a:ext cx="5026372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750"/>
              <a:buFont typeface="Outfit ExtraBold"/>
              <a:buNone/>
            </a:pPr>
            <a:r>
              <a:rPr b="0" i="0" lang="en-US" sz="27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Business Recommendations</a:t>
            </a:r>
            <a:endParaRPr b="0" i="0" sz="2750" u="none" cap="none" strike="noStrike"/>
          </a:p>
        </p:txBody>
      </p:sp>
      <p:pic>
        <p:nvPicPr>
          <p:cNvPr descr="preencoded.png" id="173" name="Google Shape;1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069" y="1782366"/>
            <a:ext cx="2641774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/>
          <p:nvPr/>
        </p:nvSpPr>
        <p:spPr>
          <a:xfrm>
            <a:off x="714077" y="194317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Boost Subscriptions</a:t>
            </a:r>
            <a:endParaRPr b="0" i="0" sz="1350" u="none" cap="none" strike="noStrike"/>
          </a:p>
        </p:txBody>
      </p:sp>
      <p:sp>
        <p:nvSpPr>
          <p:cNvPr id="175" name="Google Shape;175;p22"/>
          <p:cNvSpPr/>
          <p:nvPr/>
        </p:nvSpPr>
        <p:spPr>
          <a:xfrm>
            <a:off x="714077" y="2249686"/>
            <a:ext cx="224395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Promote exclusive subscriber benefits to drive conversion.</a:t>
            </a:r>
            <a:endParaRPr b="0" i="0" sz="1100" u="none" cap="none" strike="noStrike"/>
          </a:p>
        </p:txBody>
      </p:sp>
      <p:pic>
        <p:nvPicPr>
          <p:cNvPr descr="preencoded.png" id="176" name="Google Shape;1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1551" y="1782366"/>
            <a:ext cx="2641774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/>
          <p:nvPr/>
        </p:nvSpPr>
        <p:spPr>
          <a:xfrm>
            <a:off x="3478560" y="194317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Loyalty Programs</a:t>
            </a:r>
            <a:endParaRPr b="0" i="0" sz="1350" u="none" cap="none" strike="noStrike"/>
          </a:p>
        </p:txBody>
      </p:sp>
      <p:sp>
        <p:nvSpPr>
          <p:cNvPr id="178" name="Google Shape;178;p22"/>
          <p:cNvSpPr/>
          <p:nvPr/>
        </p:nvSpPr>
        <p:spPr>
          <a:xfrm>
            <a:off x="3478560" y="2249686"/>
            <a:ext cx="224395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Reward repeat buyers to move them into the "Loyal" segment.</a:t>
            </a:r>
            <a:endParaRPr b="0" i="0" sz="1100" u="none" cap="none" strike="noStrike"/>
          </a:p>
        </p:txBody>
      </p:sp>
      <p:pic>
        <p:nvPicPr>
          <p:cNvPr descr="preencoded.png"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6033" y="1782366"/>
            <a:ext cx="2641774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6243042" y="1943174"/>
            <a:ext cx="188409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Review Discount Policy</a:t>
            </a:r>
            <a:endParaRPr b="0" i="0" sz="1350" u="none" cap="none" strike="noStrike"/>
          </a:p>
        </p:txBody>
      </p:sp>
      <p:sp>
        <p:nvSpPr>
          <p:cNvPr id="181" name="Google Shape;181;p22"/>
          <p:cNvSpPr/>
          <p:nvPr/>
        </p:nvSpPr>
        <p:spPr>
          <a:xfrm>
            <a:off x="6243042" y="2249686"/>
            <a:ext cx="224395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Balance sales boosts with margin control for discount users.</a:t>
            </a:r>
            <a:endParaRPr b="0" i="0" sz="1100" u="none" cap="none" strike="noStrike"/>
          </a:p>
        </p:txBody>
      </p:sp>
      <p:pic>
        <p:nvPicPr>
          <p:cNvPr descr="preencoded.png" id="182" name="Google Shape;1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069" y="3005882"/>
            <a:ext cx="2641774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/>
          <p:nvPr/>
        </p:nvSpPr>
        <p:spPr>
          <a:xfrm>
            <a:off x="714077" y="316669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Product Positioning</a:t>
            </a:r>
            <a:endParaRPr b="0" i="0" sz="1350" u="none" cap="none" strike="noStrike"/>
          </a:p>
        </p:txBody>
      </p:sp>
      <p:sp>
        <p:nvSpPr>
          <p:cNvPr id="184" name="Google Shape;184;p22"/>
          <p:cNvSpPr/>
          <p:nvPr/>
        </p:nvSpPr>
        <p:spPr>
          <a:xfrm>
            <a:off x="714077" y="3473202"/>
            <a:ext cx="224395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Highlight top-rated and best-selling products in campaigns.</a:t>
            </a:r>
            <a:endParaRPr b="0" i="0" sz="1100" u="none" cap="none" strike="noStrike"/>
          </a:p>
        </p:txBody>
      </p:sp>
      <p:pic>
        <p:nvPicPr>
          <p:cNvPr descr="preencoded.png"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1551" y="3005882"/>
            <a:ext cx="2641774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3478560" y="316669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50"/>
              <a:buFont typeface="Outfit ExtraBold"/>
              <a:buNone/>
            </a:pPr>
            <a:r>
              <a:rPr b="0" i="0" lang="en-US" sz="13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Targeted Marketing</a:t>
            </a:r>
            <a:endParaRPr b="0" i="0" sz="1350" u="none" cap="none" strike="noStrike"/>
          </a:p>
        </p:txBody>
      </p:sp>
      <p:sp>
        <p:nvSpPr>
          <p:cNvPr id="187" name="Google Shape;187;p22"/>
          <p:cNvSpPr/>
          <p:nvPr/>
        </p:nvSpPr>
        <p:spPr>
          <a:xfrm>
            <a:off x="3478560" y="3473202"/>
            <a:ext cx="224395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00"/>
              <a:buFont typeface="Arimo"/>
              <a:buNone/>
            </a:pPr>
            <a:r>
              <a:rPr b="0" i="0" lang="en-US" sz="11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Focus on high-revenue age groups and express-shipping users.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